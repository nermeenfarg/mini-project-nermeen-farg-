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Plus Jakarta Sans"/>
      <ns0:bold ns1:id="rIdFont21"/>
      <ns0:regular ns1:id="rIdFont22"/>
    </ns0:embeddedFont>
    <ns0:embeddedFont>
      <ns0:font typeface="Fira Code"/>
      <ns0:bold ns1:id="rIdFont23"/>
      <ns0:regular ns1:id="rIdFont24"/>
    </ns0:embeddedFont>
    <ns0:embeddedFont>
      <ns0:font typeface="Cinzel"/>
      <ns0:bold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a8cd8da0-8541-450f-8691-5a3c33eb1625.fntdata" /><ns0:Relationship Id="rIdFont22" Type="http://schemas.openxmlformats.org/officeDocument/2006/relationships/font" Target="fonts/ab11e197-1fcb-4c2c-bf14-bc27fd3e6638.fntdata" /><ns0:Relationship Id="rIdFont23" Type="http://schemas.openxmlformats.org/officeDocument/2006/relationships/font" Target="fonts/36acd10e-0b7b-4ee5-8c05-9ce4daf9f537.fntdata" /><ns0:Relationship Id="rIdFont24" Type="http://schemas.openxmlformats.org/officeDocument/2006/relationships/font" Target="fonts/c7c4d86f-7585-4ff5-b3ce-77ee4affc6fd.fntdata" /><ns0:Relationship Id="rIdFont25" Type="http://schemas.openxmlformats.org/officeDocument/2006/relationships/font" Target="fonts/757d9b1a-ad50-4e18-bae7-777dc345ff6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43062"/>
            <a:ext cx="9144000" cy="457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87" y="747712"/>
            <a:ext cx="3429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1662112"/>
            <a:ext cx="9105900" cy="4533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94546" y="1233487"/>
            <a:ext cx="4202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AF8F5"/>
                </a:solidFill>
                <a:latin typeface="Plus Jakarta Sans"/>
              </a:rPr>
              <a:t>Profit | Product |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6830" y="642937"/>
            <a:ext cx="9113639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D4AF37"/>
                </a:solidFill>
                <a:latin typeface="Cinzel"/>
              </a:rPr>
              <a:t>SUPERMARKET SALES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0812"/>
            <a:ext cx="5195441" cy="2486025"/>
          </a:xfrm>
          <a:prstGeom prst="roundRect">
            <a:avLst>
              <a:gd name="adj" fmla="val 4597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01 / 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0A0A"/>
                </a:solidFill>
                <a:latin typeface="Cinzel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3148012"/>
            <a:ext cx="554180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4AF37"/>
                </a:solidFill>
                <a:latin typeface="Plus Jakarta Sans"/>
              </a:rPr>
              <a:t>DATASET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3462337"/>
            <a:ext cx="5541801" cy="866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5100" i="0" u="none">
                <a:solidFill>
                  <a:srgbClr val="FAF8F5"/>
                </a:solidFill>
                <a:latin typeface="Cinzel"/>
              </a:rPr>
              <a:t>2015–2017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481512"/>
            <a:ext cx="55418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D4AF37"/>
                </a:solidFill>
                <a:latin typeface="Plus Jakarta Sans"/>
              </a:rPr>
              <a:t>Supermarket retail transactions across India.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2241" y="2767012"/>
            <a:ext cx="592975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0A0A"/>
                </a:solidFill>
                <a:latin typeface="Plus Jakarta Sans"/>
              </a:rPr>
              <a:t>Business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2241" y="3128962"/>
            <a:ext cx="592975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B5563"/>
                </a:solidFill>
                <a:latin typeface="Plus Jakarta Sans"/>
              </a:rPr>
              <a:t>Unclear profit margins across regional retail branches.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2241" y="3633787"/>
            <a:ext cx="592975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0A0A"/>
                </a:solidFill>
                <a:latin typeface="Plus Jakarta Sans"/>
              </a:rPr>
              <a:t>Analytical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2241" y="3995737"/>
            <a:ext cx="592975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B5563"/>
                </a:solidFill>
                <a:latin typeface="Plus Jakarta Sans"/>
              </a:rPr>
              <a:t>Build SQL Star Schema for Power BI insights.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2241" y="4500562"/>
            <a:ext cx="592975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0A0A"/>
                </a:solidFill>
                <a:latin typeface="Plus Jakarta Sans"/>
              </a:rPr>
              <a:t>Validated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2241" y="4862512"/>
            <a:ext cx="592975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B5563"/>
                </a:solidFill>
                <a:latin typeface="Plus Jakarta Sans"/>
              </a:rPr>
              <a:t>9,994 verified orders across 97 Indian locations.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58508" y="2500312"/>
            <a:ext cx="4223891" cy="1352550"/>
          </a:xfrm>
          <a:prstGeom prst="roundRect">
            <a:avLst>
              <a:gd name="adj" fmla="val 845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58508" y="4081462"/>
            <a:ext cx="4223891" cy="1209675"/>
          </a:xfrm>
          <a:prstGeom prst="roundRect">
            <a:avLst>
              <a:gd name="adj" fmla="val 9448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9725"/>
            <a:ext cx="6406008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62125"/>
            <a:ext cx="6101208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02 / SQL SERVER DATA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0A0A"/>
                </a:solidFill>
                <a:latin typeface="Cinzel"/>
              </a:rPr>
              <a:t>Step 1: Check Table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5208" y="2767012"/>
            <a:ext cx="37857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AF8F5"/>
                </a:solidFill>
                <a:latin typeface="Fira Code"/>
              </a:rPr>
              <a:t>SELECT name FROM sys.tables WHERE name = 'Supermarket__Sales';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5208" y="3338512"/>
            <a:ext cx="456679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4AF37"/>
                </a:solidFill>
                <a:latin typeface="Fira Code"/>
              </a:rPr>
              <a:t>Result: Supermarket__Sales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5208" y="4310062"/>
            <a:ext cx="456679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A0A0A"/>
                </a:solidFill>
                <a:latin typeface="Plus Jakarta Sans"/>
              </a:rPr>
              <a:t>Catalog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5208" y="4624387"/>
            <a:ext cx="378574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Confirmed exact table name alongside 6 warehouse tables.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14587"/>
            <a:ext cx="4458592" cy="1476375"/>
          </a:xfrm>
          <a:prstGeom prst="roundRect">
            <a:avLst>
              <a:gd name="adj" fmla="val 7741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19562"/>
            <a:ext cx="4458592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092" y="1609725"/>
            <a:ext cx="6171307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492" y="1762125"/>
            <a:ext cx="5866507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03 / SQL SERVER DATA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0A0A"/>
                </a:solidFill>
                <a:latin typeface="Cinzel"/>
              </a:rPr>
              <a:t>Step 2: Remove 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681287"/>
            <a:ext cx="4020442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AF8F5"/>
                </a:solidFill>
                <a:latin typeface="Fira Code"/>
              </a:rPr>
              <a:t>WITH CTE AS (SELECT *, ROW_NUMBER() OVER (PARTITION BY Order_ID ORDER BY Order_ID) as rn FROM dbo.Clean)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395662"/>
            <a:ext cx="490649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4AF37"/>
                </a:solidFill>
                <a:latin typeface="Fira Code"/>
              </a:rPr>
              <a:t>DELETE FROM CTE WHERE rn &gt; 1;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348162"/>
            <a:ext cx="515181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B8860B"/>
                </a:solidFill>
                <a:latin typeface="Plus Jakarta Sans"/>
              </a:rPr>
              <a:t>0 rows affected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710112"/>
            <a:ext cx="402044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Zero duplicate Order_ID records found in dbo.Clean.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58508" y="2371725"/>
            <a:ext cx="4223891" cy="1581150"/>
          </a:xfrm>
          <a:prstGeom prst="roundRect">
            <a:avLst>
              <a:gd name="adj" fmla="val 7228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58508" y="4181475"/>
            <a:ext cx="4223891" cy="1238250"/>
          </a:xfrm>
          <a:prstGeom prst="roundRect">
            <a:avLst>
              <a:gd name="adj" fmla="val 9230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9725"/>
            <a:ext cx="6406008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62125"/>
            <a:ext cx="6101208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04 / SQL SERVER DATA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0A0A"/>
                </a:solidFill>
                <a:latin typeface="Cinzel"/>
              </a:rPr>
              <a:t>Step 3: Remove NULLs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5208" y="2638425"/>
            <a:ext cx="378574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AF8F5"/>
                </a:solidFill>
                <a:latin typeface="Fira Code"/>
              </a:rPr>
              <a:t>DELETE FROM dbo.Clean WHERE Order_ID IS NULL OR Customer_Name IS NULL OR Sales IS NULL;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5208" y="3438525"/>
            <a:ext cx="456679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4AF37"/>
                </a:solidFill>
                <a:latin typeface="Fira Code"/>
              </a:rPr>
              <a:t>0 rows affected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5208" y="4410075"/>
            <a:ext cx="456679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0A0A"/>
                </a:solidFill>
                <a:latin typeface="Plus Jakarta Sans"/>
              </a:rPr>
              <a:t>9,994 Verified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5208" y="4752975"/>
            <a:ext cx="378574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Complete data integrity across all mandatory fields.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11578" y="1919287"/>
            <a:ext cx="4670821" cy="847725"/>
          </a:xfrm>
          <a:prstGeom prst="roundRect">
            <a:avLst>
              <a:gd name="adj" fmla="val 13483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9725"/>
            <a:ext cx="5959078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62125"/>
            <a:ext cx="5654278" cy="4267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11578" y="2919412"/>
            <a:ext cx="4670821" cy="29527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11578" y="2919412"/>
          <a:ext cx="4670821" cy="29527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78955"/>
                <a:gridCol w="1384994"/>
                <a:gridCol w="1406872"/>
              </a:tblGrid>
              <a:tr h="4218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4AF37"/>
                          </a:solidFill>
                          <a:latin typeface="Plus Jakarta Sans"/>
                        </a:rPr>
                        <a:t>Table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4AF37"/>
                          </a:solidFill>
                          <a:latin typeface="Plus Jakarta Sans"/>
                        </a:rPr>
                        <a:t>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D4AF37"/>
                          </a:solidFill>
                          <a:latin typeface="Plus Jakarta Sans"/>
                        </a:rPr>
                        <a:t>TotalRows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A0A0A"/>
                          </a:solidFill>
                          <a:latin typeface="Plus Jakarta Sans"/>
                        </a:rPr>
                        <a:t>Clean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B5563"/>
                          </a:solidFill>
                          <a:latin typeface="Plus Jakarta Sans"/>
                        </a:rPr>
                        <a:t>Staging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B8860B"/>
                          </a:solidFill>
                          <a:latin typeface="Plus Jakarta Sans"/>
                        </a:rPr>
                        <a:t>9,994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A0A0A"/>
                          </a:solidFill>
                          <a:latin typeface="Plus Jakarta Sans"/>
                        </a:rPr>
                        <a:t>Dim_Customer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B5563"/>
                          </a:solidFill>
                          <a:latin typeface="Plus Jakarta Sans"/>
                        </a:rPr>
                        <a:t>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0A0A0A"/>
                          </a:solidFill>
                          <a:latin typeface="Plus Jakarta Sans"/>
                        </a:rPr>
                        <a:t>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A0A0A"/>
                          </a:solidFill>
                          <a:latin typeface="Plus Jakarta Sans"/>
                        </a:rPr>
                        <a:t>Dim_Product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B5563"/>
                          </a:solidFill>
                          <a:latin typeface="Plus Jakarta Sans"/>
                        </a:rPr>
                        <a:t>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0A0A0A"/>
                          </a:solidFill>
                          <a:latin typeface="Plus Jakarta Sans"/>
                        </a:rPr>
                        <a:t>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A0A0A"/>
                          </a:solidFill>
                          <a:latin typeface="Plus Jakarta Sans"/>
                        </a:rPr>
                        <a:t>Dim_Location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B5563"/>
                          </a:solidFill>
                          <a:latin typeface="Plus Jakarta Sans"/>
                        </a:rPr>
                        <a:t>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0A0A0A"/>
                          </a:solidFill>
                          <a:latin typeface="Plus Jakarta Sans"/>
                        </a:rPr>
                        <a:t>97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A0A0A"/>
                          </a:solidFill>
                          <a:latin typeface="Plus Jakarta Sans"/>
                        </a:rPr>
                        <a:t>Dim_Date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B5563"/>
                          </a:solidFill>
                          <a:latin typeface="Plus Jakarta Sans"/>
                        </a:rPr>
                        <a:t>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0A0A0A"/>
                          </a:solidFill>
                          <a:latin typeface="Plus Jakarta Sans"/>
                        </a:rPr>
                        <a:t>1,236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1824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A0A0A"/>
                          </a:solidFill>
                          <a:latin typeface="Plus Jakarta Sans"/>
                        </a:rPr>
                        <a:t>Fact_Sales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B5563"/>
                          </a:solidFill>
                          <a:latin typeface="Plus Jakarta Sans"/>
                        </a:rPr>
                        <a:t>Fact 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B8860B"/>
                          </a:solidFill>
                          <a:latin typeface="Plus Jakarta Sans"/>
                        </a:rPr>
                        <a:t>9,994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05 / DATA WAREHOUSE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0A0A"/>
                </a:solidFill>
                <a:latin typeface="Cinzel"/>
              </a:rPr>
              <a:t>Data Warehouse Model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2078" y="2071687"/>
            <a:ext cx="4385071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D4AF37"/>
                </a:solidFill>
                <a:latin typeface="Fira Code"/>
              </a:rPr>
              <a:t>SELECT 'Clean' AS TableName, COUNT(*) FROM dbo.Clean UNION ALL SELECT 'Fact_Sales', COUNT(*) FROM dbo.Fact_Sales;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9587" y="2552700"/>
            <a:ext cx="2286000" cy="485775"/>
          </a:xfrm>
          <a:prstGeom prst="roundRect">
            <a:avLst>
              <a:gd name="adj" fmla="val 15686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29587" y="4752975"/>
            <a:ext cx="2286000" cy="485775"/>
          </a:xfrm>
          <a:prstGeom prst="roundRect">
            <a:avLst>
              <a:gd name="adj" fmla="val 15686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62775" y="3543300"/>
            <a:ext cx="1181100" cy="704850"/>
          </a:xfrm>
          <a:prstGeom prst="roundRect">
            <a:avLst>
              <a:gd name="adj" fmla="val 10810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96275" y="3190875"/>
            <a:ext cx="1657350" cy="1409700"/>
          </a:xfrm>
          <a:prstGeom prst="roundRect">
            <a:avLst>
              <a:gd name="adj" fmla="val 8108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06025" y="3543300"/>
            <a:ext cx="1476375" cy="704850"/>
          </a:xfrm>
          <a:prstGeom prst="roundRect">
            <a:avLst>
              <a:gd name="adj" fmla="val 10810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9725"/>
            <a:ext cx="6010275" cy="457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62125"/>
            <a:ext cx="5705475" cy="426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06 / DATA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0A0A"/>
                </a:solidFill>
                <a:latin typeface="Cinzel"/>
              </a:rPr>
              <a:t>Star Schema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587" y="2686050"/>
            <a:ext cx="2286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A0A0A"/>
                </a:solidFill>
                <a:latin typeface="Plus Jakarta Sans"/>
              </a:rPr>
              <a:t>Dim_Customer 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587" y="4886325"/>
            <a:ext cx="2286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A0A0A"/>
                </a:solidFill>
                <a:latin typeface="Plus Jakarta Sans"/>
              </a:rPr>
              <a:t>Dim_Location 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3676650"/>
            <a:ext cx="1123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A0A0A"/>
                </a:solidFill>
                <a:latin typeface="Plus Jakarta Sans"/>
              </a:rPr>
              <a:t>Dim_Date 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7351" y="3419475"/>
            <a:ext cx="1575196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D4AF37"/>
                </a:solidFill>
                <a:latin typeface="Cinzel"/>
              </a:rPr>
              <a:t>Fact_Sales (*)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4856" y="4029075"/>
            <a:ext cx="15001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AF8F5"/>
                </a:solidFill>
                <a:latin typeface="Plus Jakarta Sans"/>
              </a:rPr>
              <a:t>Keys, Order_ID, Discount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4600" y="3676650"/>
            <a:ext cx="1419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A0A0A"/>
                </a:solidFill>
                <a:latin typeface="Plus Jakarta Sans"/>
              </a:rPr>
              <a:t>Dim_Product (1)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00082" y="2243137"/>
            <a:ext cx="3782317" cy="1009650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00082" y="3405187"/>
            <a:ext cx="3782317" cy="1009650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00082" y="4567237"/>
            <a:ext cx="3782317" cy="981075"/>
          </a:xfrm>
          <a:prstGeom prst="roundRect">
            <a:avLst>
              <a:gd name="adj" fmla="val 1165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9725"/>
            <a:ext cx="6847582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724025"/>
            <a:ext cx="6618982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07 / POWER BI EXECUTIVE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0A0A"/>
                </a:solidFill>
                <a:latin typeface="Cinzel"/>
              </a:rPr>
              <a:t>Sales &amp; Profit Analysis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682" y="2433637"/>
            <a:ext cx="415639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8860B"/>
                </a:solidFill>
                <a:latin typeface="Plus Jakarta Sans"/>
              </a:rPr>
              <a:t>TOTAL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682" y="2652712"/>
            <a:ext cx="4156397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A0A0A"/>
                </a:solidFill>
                <a:latin typeface="Cinzel"/>
              </a:rPr>
              <a:t>15M ($14.96M)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682" y="3595687"/>
            <a:ext cx="415639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8860B"/>
                </a:solidFill>
                <a:latin typeface="Plus Jakarta Sans"/>
              </a:rPr>
              <a:t>TOTAL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682" y="3814762"/>
            <a:ext cx="4156397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A0A0A"/>
                </a:solidFill>
                <a:latin typeface="Cinzel"/>
              </a:rPr>
              <a:t>10K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682" y="4757737"/>
            <a:ext cx="415639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4AF37"/>
                </a:solidFill>
                <a:latin typeface="Plus Jakarta Sans"/>
              </a:rPr>
              <a:t>TOTAL PROFIT &amp;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682" y="4976812"/>
            <a:ext cx="415639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FAF8F5"/>
                </a:solidFill>
                <a:latin typeface="Cinzel"/>
              </a:rPr>
              <a:t>3.75M (25.05%)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14575"/>
            <a:ext cx="4018657" cy="1466850"/>
          </a:xfrm>
          <a:prstGeom prst="roundRect">
            <a:avLst>
              <a:gd name="adj" fmla="val 7792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010025"/>
            <a:ext cx="4018657" cy="1466850"/>
          </a:xfrm>
          <a:prstGeom prst="roundRect">
            <a:avLst>
              <a:gd name="adj" fmla="val 7792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157" y="1609725"/>
            <a:ext cx="6611242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457" y="1724025"/>
            <a:ext cx="6382642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08 / GEOGRAPHIC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0A0A"/>
                </a:solidFill>
                <a:latin typeface="Cinzel"/>
              </a:rPr>
              <a:t>City &amp; Region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581275"/>
            <a:ext cx="43565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4AF37"/>
                </a:solidFill>
                <a:latin typeface="Plus Jakarta Sans"/>
              </a:rPr>
              <a:t>TOP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828925"/>
            <a:ext cx="4574399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AF8F5"/>
                </a:solidFill>
                <a:latin typeface="Cinzel"/>
              </a:rPr>
              <a:t>Central (5M+)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295650"/>
            <a:ext cx="43565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A1A1AA"/>
                </a:solidFill>
                <a:latin typeface="Plus Jakarta Sans"/>
              </a:rPr>
              <a:t>Highest regional revenue across India.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276725"/>
            <a:ext cx="43565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TOP CITIES BY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524375"/>
            <a:ext cx="4574399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A0A0A"/>
                </a:solidFill>
                <a:latin typeface="Cinzel"/>
              </a:rPr>
              <a:t>Vellore &amp; Bodi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991100"/>
            <a:ext cx="43565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174K profit each in city rankings.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63742" y="2324100"/>
            <a:ext cx="4018657" cy="1457325"/>
          </a:xfrm>
          <a:prstGeom prst="roundRect">
            <a:avLst>
              <a:gd name="adj" fmla="val 7843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63742" y="4010025"/>
            <a:ext cx="4018657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9725"/>
            <a:ext cx="6611242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724025"/>
            <a:ext cx="6382642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09 / PRODUCT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0A0A"/>
                </a:solidFill>
                <a:latin typeface="Cinzel"/>
              </a:rPr>
              <a:t>Category Analysis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0442" y="2590800"/>
            <a:ext cx="43565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4AF37"/>
                </a:solidFill>
                <a:latin typeface="Plus Jakarta Sans"/>
              </a:rPr>
              <a:t>#1 PRODUCT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0442" y="2838450"/>
            <a:ext cx="436155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AF8F5"/>
                </a:solidFill>
                <a:latin typeface="Cinzel"/>
              </a:rPr>
              <a:t>Eggs, Meat &amp; Fish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0442" y="3248025"/>
            <a:ext cx="43565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D4AF37"/>
                </a:solidFill>
                <a:latin typeface="Plus Jakarta Sans"/>
              </a:rPr>
              <a:t>$2.3M Total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0442" y="4276725"/>
            <a:ext cx="435657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#2 PRODUCT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0442" y="4524375"/>
            <a:ext cx="436155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A0A0A"/>
                </a:solidFill>
                <a:latin typeface="Cinzel"/>
              </a:rPr>
              <a:t>Snacks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0442" y="4933950"/>
            <a:ext cx="43565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B8860B"/>
                </a:solidFill>
                <a:latin typeface="Plus Jakarta Sans"/>
              </a:rPr>
              <a:t>$2.2M Total Sales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10 / ANALYTICAL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0A0A"/>
                </a:solidFill>
                <a:latin typeface="Cinzel"/>
              </a:rPr>
              <a:t>Key Sales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962275"/>
            <a:ext cx="115824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B8860B"/>
                </a:solidFill>
                <a:latin typeface="Plus Jakarta Sans"/>
              </a:rPr>
              <a:t>Central Region Dominance:</a:t>
            </a:r>
            <a:r>
              <a:rPr b="0" sz="1800" i="0" u="none">
                <a:solidFill>
                  <a:srgbClr val="0A0A0A"/>
                </a:solidFill>
                <a:latin typeface="Plus Jakarta Sans"/>
              </a:rPr>
              <a:t> Generates over 5M in total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14725"/>
            <a:ext cx="115824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B8860B"/>
                </a:solidFill>
                <a:latin typeface="Plus Jakarta Sans"/>
              </a:rPr>
              <a:t>Top Profit Hubs:</a:t>
            </a:r>
            <a:r>
              <a:rPr b="0" sz="1800" i="0" u="none">
                <a:solidFill>
                  <a:srgbClr val="0A0A0A"/>
                </a:solidFill>
                <a:latin typeface="Plus Jakarta Sans"/>
              </a:rPr>
              <a:t> Vellore and Bodi yield 174K profit 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67175"/>
            <a:ext cx="115824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B8860B"/>
                </a:solidFill>
                <a:latin typeface="Plus Jakarta Sans"/>
              </a:rPr>
              <a:t>Category Leadership:</a:t>
            </a:r>
            <a:r>
              <a:rPr b="0" sz="1800" i="0" u="none">
                <a:solidFill>
                  <a:srgbClr val="0A0A0A"/>
                </a:solidFill>
                <a:latin typeface="Plus Jakarta Sans"/>
              </a:rPr>
              <a:t> Eggs, Meat &amp; Fish leads at 2.3M.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619625"/>
            <a:ext cx="115824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B8860B"/>
                </a:solidFill>
                <a:latin typeface="Plus Jakarta Sans"/>
              </a:rPr>
              <a:t>Healthy Margin Stability:</a:t>
            </a:r>
            <a:r>
              <a:rPr b="0" sz="1800" i="0" u="none">
                <a:solidFill>
                  <a:srgbClr val="0A0A0A"/>
                </a:solidFill>
                <a:latin typeface="Plus Jakarta Sans"/>
              </a:rPr>
              <a:t> Overall profit margin holds at 25.05%.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90850"/>
            <a:ext cx="257175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990850"/>
            <a:ext cx="257175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990850"/>
            <a:ext cx="257175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990850"/>
            <a:ext cx="2571750" cy="188595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95650"/>
            <a:ext cx="3048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295650"/>
            <a:ext cx="3048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295650"/>
            <a:ext cx="257175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3295650"/>
            <a:ext cx="390525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11 / TECHNICAL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0A0A"/>
                </a:solidFill>
                <a:latin typeface="Cinzel"/>
              </a:rPr>
              <a:t>Tools &amp; Technologies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90950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0A0A"/>
                </a:solidFill>
                <a:latin typeface="Plus Jakarta Sans"/>
              </a:rPr>
              <a:t>SQL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33850"/>
            <a:ext cx="2209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Star Schema modeling via CTE cleaning.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790950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0A0A"/>
                </a:solidFill>
                <a:latin typeface="Plus Jakarta Sans"/>
              </a:rPr>
              <a:t>Power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4133850"/>
            <a:ext cx="2209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Date.FromText using en-GB locale formatting.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790950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0A0A"/>
                </a:solidFill>
                <a:latin typeface="Plus Jakarta Sans"/>
              </a:rPr>
              <a:t>DAX Measures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4133850"/>
            <a:ext cx="2209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Dynamic KPI calculations for profit margins.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790950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0A0A"/>
                </a:solidFill>
                <a:latin typeface="Plus Jakarta Sans"/>
              </a:rPr>
              <a:t>Power BI Desktop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4133850"/>
            <a:ext cx="2209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Interactive Gold &amp; Black executive visuals.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5125"/>
            <a:ext cx="3454449" cy="2057400"/>
          </a:xfrm>
          <a:prstGeom prst="roundRect">
            <a:avLst>
              <a:gd name="adj" fmla="val 5555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905125"/>
            <a:ext cx="3454449" cy="2057400"/>
          </a:xfrm>
          <a:prstGeom prst="roundRect">
            <a:avLst>
              <a:gd name="adj" fmla="val 5555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905125"/>
            <a:ext cx="3454449" cy="2057400"/>
          </a:xfrm>
          <a:prstGeom prst="roundRect">
            <a:avLst>
              <a:gd name="adj" fmla="val 5555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Plus Jakarta Sans"/>
              </a:rPr>
              <a:t>12 / STRATEGIC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A0A0A"/>
                </a:solidFill>
                <a:latin typeface="Cinzel"/>
              </a:rPr>
              <a:t>Business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248025"/>
            <a:ext cx="365131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B8860B"/>
                </a:solidFill>
                <a:latin typeface="Cinze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19525"/>
            <a:ext cx="383387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0A0A"/>
                </a:solidFill>
                <a:latin typeface="Plus Jakarta Sans"/>
              </a:rPr>
              <a:t>Cold-Chain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181475"/>
            <a:ext cx="30162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Prioritize Eggs, Meat &amp; Fish inventory.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549" y="3248025"/>
            <a:ext cx="365131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B8860B"/>
                </a:solidFill>
                <a:latin typeface="Cinze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5549" y="3819525"/>
            <a:ext cx="383387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0A0A"/>
                </a:solidFill>
                <a:latin typeface="Plus Jakarta Sans"/>
              </a:rPr>
              <a:t>Replicate Top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5549" y="4181475"/>
            <a:ext cx="30162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Apply Vellore &amp; Bodi pricing regionally.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799" y="3248025"/>
            <a:ext cx="365131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B8860B"/>
                </a:solidFill>
                <a:latin typeface="Cinze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799" y="3819525"/>
            <a:ext cx="3797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A0A0A"/>
                </a:solidFill>
                <a:latin typeface="Plus Jakarta Sans"/>
              </a:rPr>
              <a:t>Discount 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799" y="4181475"/>
            <a:ext cx="30162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Cap promotional discounts during low months.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53100" y="2381250"/>
            <a:ext cx="685800" cy="285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301900" y="2714625"/>
            <a:ext cx="5588198" cy="819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D4AF37"/>
                </a:solidFill>
                <a:latin typeface="Cinze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94609" y="3686175"/>
            <a:ext cx="320278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AF8F5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7968" y="4276725"/>
            <a:ext cx="659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A1A1AA"/>
                </a:solidFill>
                <a:latin typeface="Plus Jakarta Sans"/>
              </a:rPr>
              <a:t>SUPERMARKET SALES ANALYSIS  |  SQL SERVER &amp;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